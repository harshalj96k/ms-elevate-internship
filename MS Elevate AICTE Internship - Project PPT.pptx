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5" d="100"/>
          <a:sy n="85" d="100"/>
        </p:scale>
        <p:origin x="562" y="6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l jadhav" userId="96dceecb6b2303e2" providerId="LiveId" clId="{0C715D67-2B37-4042-B14C-D355224C32E1}"/>
    <pc:docChg chg="custSel modSld">
      <pc:chgData name="harshal jadhav" userId="96dceecb6b2303e2" providerId="LiveId" clId="{0C715D67-2B37-4042-B14C-D355224C32E1}" dt="2026-03-15T17:58:36.395" v="205" actId="20577"/>
      <pc:docMkLst>
        <pc:docMk/>
      </pc:docMkLst>
      <pc:sldChg chg="modSp mod">
        <pc:chgData name="harshal jadhav" userId="96dceecb6b2303e2" providerId="LiveId" clId="{0C715D67-2B37-4042-B14C-D355224C32E1}" dt="2026-03-15T17:14:34.054" v="104" actId="20577"/>
        <pc:sldMkLst>
          <pc:docMk/>
          <pc:sldMk cId="2310333463" sldId="256"/>
        </pc:sldMkLst>
        <pc:spChg chg="mod">
          <ac:chgData name="harshal jadhav" userId="96dceecb6b2303e2" providerId="LiveId" clId="{0C715D67-2B37-4042-B14C-D355224C32E1}" dt="2026-03-15T17:12:50.583" v="4" actId="1076"/>
          <ac:spMkLst>
            <pc:docMk/>
            <pc:sldMk cId="2310333463" sldId="256"/>
            <ac:spMk id="3" creationId="{0F837936-4230-3A98-A2A1-6E77E027B36D}"/>
          </ac:spMkLst>
        </pc:spChg>
        <pc:spChg chg="mod">
          <ac:chgData name="harshal jadhav" userId="96dceecb6b2303e2" providerId="LiveId" clId="{0C715D67-2B37-4042-B14C-D355224C32E1}" dt="2026-03-15T17:14:34.054" v="104" actId="20577"/>
          <ac:spMkLst>
            <pc:docMk/>
            <pc:sldMk cId="2310333463" sldId="256"/>
            <ac:spMk id="5" creationId="{3A663A0C-3931-F8E6-391C-2FF1FDBB09CD}"/>
          </ac:spMkLst>
        </pc:spChg>
      </pc:sldChg>
      <pc:sldChg chg="modSp mod">
        <pc:chgData name="harshal jadhav" userId="96dceecb6b2303e2" providerId="LiveId" clId="{0C715D67-2B37-4042-B14C-D355224C32E1}" dt="2026-03-15T17:21:34.622" v="107" actId="27636"/>
        <pc:sldMkLst>
          <pc:docMk/>
          <pc:sldMk cId="3372914246" sldId="572"/>
        </pc:sldMkLst>
        <pc:spChg chg="mod">
          <ac:chgData name="harshal jadhav" userId="96dceecb6b2303e2" providerId="LiveId" clId="{0C715D67-2B37-4042-B14C-D355224C32E1}" dt="2026-03-15T17:21:34.622" v="107" actId="27636"/>
          <ac:spMkLst>
            <pc:docMk/>
            <pc:sldMk cId="3372914246" sldId="572"/>
            <ac:spMk id="3" creationId="{28E8C97F-5AC9-F1CA-3CCC-090D5B13989A}"/>
          </ac:spMkLst>
        </pc:spChg>
      </pc:sldChg>
      <pc:sldChg chg="modSp mod">
        <pc:chgData name="harshal jadhav" userId="96dceecb6b2303e2" providerId="LiveId" clId="{0C715D67-2B37-4042-B14C-D355224C32E1}" dt="2026-03-15T17:22:10.492" v="113" actId="403"/>
        <pc:sldMkLst>
          <pc:docMk/>
          <pc:sldMk cId="204139634" sldId="573"/>
        </pc:sldMkLst>
        <pc:spChg chg="mod">
          <ac:chgData name="harshal jadhav" userId="96dceecb6b2303e2" providerId="LiveId" clId="{0C715D67-2B37-4042-B14C-D355224C32E1}" dt="2026-03-15T17:22:10.492" v="113" actId="403"/>
          <ac:spMkLst>
            <pc:docMk/>
            <pc:sldMk cId="204139634" sldId="573"/>
            <ac:spMk id="3" creationId="{AF67202D-4065-DDD7-98F1-4291C536D1A3}"/>
          </ac:spMkLst>
        </pc:spChg>
      </pc:sldChg>
      <pc:sldChg chg="modSp mod">
        <pc:chgData name="harshal jadhav" userId="96dceecb6b2303e2" providerId="LiveId" clId="{0C715D67-2B37-4042-B14C-D355224C32E1}" dt="2026-03-15T17:22:44.924" v="115" actId="27636"/>
        <pc:sldMkLst>
          <pc:docMk/>
          <pc:sldMk cId="3501125123" sldId="574"/>
        </pc:sldMkLst>
        <pc:spChg chg="mod">
          <ac:chgData name="harshal jadhav" userId="96dceecb6b2303e2" providerId="LiveId" clId="{0C715D67-2B37-4042-B14C-D355224C32E1}" dt="2026-03-15T17:22:44.924" v="115" actId="27636"/>
          <ac:spMkLst>
            <pc:docMk/>
            <pc:sldMk cId="3501125123" sldId="574"/>
            <ac:spMk id="3" creationId="{FE07E8EE-7F26-D809-3523-C58876935A4E}"/>
          </ac:spMkLst>
        </pc:spChg>
      </pc:sldChg>
      <pc:sldChg chg="modSp mod">
        <pc:chgData name="harshal jadhav" userId="96dceecb6b2303e2" providerId="LiveId" clId="{0C715D67-2B37-4042-B14C-D355224C32E1}" dt="2026-03-15T17:23:10.688" v="117" actId="27636"/>
        <pc:sldMkLst>
          <pc:docMk/>
          <pc:sldMk cId="1199084396" sldId="575"/>
        </pc:sldMkLst>
        <pc:spChg chg="mod">
          <ac:chgData name="harshal jadhav" userId="96dceecb6b2303e2" providerId="LiveId" clId="{0C715D67-2B37-4042-B14C-D355224C32E1}" dt="2026-03-15T17:23:10.688" v="117" actId="27636"/>
          <ac:spMkLst>
            <pc:docMk/>
            <pc:sldMk cId="1199084396" sldId="575"/>
            <ac:spMk id="3" creationId="{B5107410-DE3D-5F62-F9D7-11EAEA92F0BB}"/>
          </ac:spMkLst>
        </pc:spChg>
      </pc:sldChg>
      <pc:sldChg chg="addSp delSp modSp mod">
        <pc:chgData name="harshal jadhav" userId="96dceecb6b2303e2" providerId="LiveId" clId="{0C715D67-2B37-4042-B14C-D355224C32E1}" dt="2026-03-15T17:25:34.296" v="133" actId="1076"/>
        <pc:sldMkLst>
          <pc:docMk/>
          <pc:sldMk cId="58742533" sldId="576"/>
        </pc:sldMkLst>
        <pc:spChg chg="del mod">
          <ac:chgData name="harshal jadhav" userId="96dceecb6b2303e2" providerId="LiveId" clId="{0C715D67-2B37-4042-B14C-D355224C32E1}" dt="2026-03-15T17:25:30.251" v="132" actId="478"/>
          <ac:spMkLst>
            <pc:docMk/>
            <pc:sldMk cId="58742533" sldId="576"/>
            <ac:spMk id="3" creationId="{66102C9B-C4AF-D0DB-DE74-862D9812001C}"/>
          </ac:spMkLst>
        </pc:spChg>
        <pc:picChg chg="add mod modCrop">
          <ac:chgData name="harshal jadhav" userId="96dceecb6b2303e2" providerId="LiveId" clId="{0C715D67-2B37-4042-B14C-D355224C32E1}" dt="2026-03-15T17:25:34.296" v="133" actId="1076"/>
          <ac:picMkLst>
            <pc:docMk/>
            <pc:sldMk cId="58742533" sldId="576"/>
            <ac:picMk id="5" creationId="{C5217080-1BC8-2560-5E95-F0D5E0685ACB}"/>
          </ac:picMkLst>
        </pc:picChg>
      </pc:sldChg>
      <pc:sldChg chg="modSp">
        <pc:chgData name="harshal jadhav" userId="96dceecb6b2303e2" providerId="LiveId" clId="{0C715D67-2B37-4042-B14C-D355224C32E1}" dt="2026-03-15T17:23:37.330" v="118"/>
        <pc:sldMkLst>
          <pc:docMk/>
          <pc:sldMk cId="2245309600" sldId="577"/>
        </pc:sldMkLst>
        <pc:spChg chg="mod">
          <ac:chgData name="harshal jadhav" userId="96dceecb6b2303e2" providerId="LiveId" clId="{0C715D67-2B37-4042-B14C-D355224C32E1}" dt="2026-03-15T17:23:37.330" v="118"/>
          <ac:spMkLst>
            <pc:docMk/>
            <pc:sldMk cId="2245309600" sldId="577"/>
            <ac:spMk id="3" creationId="{21789DDB-698E-B624-5621-F9D79482FFED}"/>
          </ac:spMkLst>
        </pc:spChg>
      </pc:sldChg>
      <pc:sldChg chg="modSp mod">
        <pc:chgData name="harshal jadhav" userId="96dceecb6b2303e2" providerId="LiveId" clId="{0C715D67-2B37-4042-B14C-D355224C32E1}" dt="2026-03-15T17:58:36.395" v="205" actId="20577"/>
        <pc:sldMkLst>
          <pc:docMk/>
          <pc:sldMk cId="1691700673" sldId="578"/>
        </pc:sldMkLst>
        <pc:spChg chg="mod">
          <ac:chgData name="harshal jadhav" userId="96dceecb6b2303e2" providerId="LiveId" clId="{0C715D67-2B37-4042-B14C-D355224C32E1}" dt="2026-03-15T17:58:36.395" v="205" actId="20577"/>
          <ac:spMkLst>
            <pc:docMk/>
            <pc:sldMk cId="1691700673" sldId="578"/>
            <ac:spMk id="3" creationId="{5E6198D1-2392-A218-1A4C-10F40FCB8253}"/>
          </ac:spMkLst>
        </pc:spChg>
      </pc:sldChg>
      <pc:sldChg chg="modSp">
        <pc:chgData name="harshal jadhav" userId="96dceecb6b2303e2" providerId="LiveId" clId="{0C715D67-2B37-4042-B14C-D355224C32E1}" dt="2026-03-15T17:23:48.640" v="119"/>
        <pc:sldMkLst>
          <pc:docMk/>
          <pc:sldMk cId="3744199677" sldId="579"/>
        </pc:sldMkLst>
        <pc:spChg chg="mod">
          <ac:chgData name="harshal jadhav" userId="96dceecb6b2303e2" providerId="LiveId" clId="{0C715D67-2B37-4042-B14C-D355224C32E1}" dt="2026-03-15T17:23:48.640" v="119"/>
          <ac:spMkLst>
            <pc:docMk/>
            <pc:sldMk cId="3744199677" sldId="579"/>
            <ac:spMk id="3" creationId="{3F2C79AB-5BF9-3911-CAE8-5E44B0DF22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X8IlLarGMnjwvOxpic26UgGA8Qpw4SzD?usp=drive_link" TargetMode="External"/><Relationship Id="rId2" Type="http://schemas.openxmlformats.org/officeDocument/2006/relationships/hyperlink" Target="https://powerbi.microsoft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HarshalJ96k/MS-ELEVATE-INTERNSHIP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04304" y="963029"/>
            <a:ext cx="493316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GB" sz="5400" dirty="0"/>
              <a:t>Sales Analysis Dashboard for Amazon Products using Power BI</a:t>
            </a:r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9"/>
            <a:ext cx="5591521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</a:t>
            </a:r>
            <a:r>
              <a:rPr lang="en-IN" sz="1600" b="1" dirty="0"/>
              <a:t>Harshal Jadhav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D Y Patil college of </a:t>
            </a:r>
          </a:p>
          <a:p>
            <a:pPr algn="l">
              <a:spcAft>
                <a:spcPts val="600"/>
              </a:spcAft>
            </a:pPr>
            <a:r>
              <a:rPr lang="en-IN" sz="1600" b="1" cap="all" dirty="0"/>
              <a:t>	                engineering , </a:t>
            </a:r>
            <a:r>
              <a:rPr lang="en-IN" sz="1600" b="1" cap="all" dirty="0" err="1"/>
              <a:t>Akurdi</a:t>
            </a:r>
            <a:r>
              <a:rPr lang="en-IN" sz="1600" b="1" cap="all" dirty="0"/>
              <a:t> , </a:t>
            </a:r>
            <a:r>
              <a:rPr lang="en-IN" sz="1600" b="1" cap="all" dirty="0" err="1"/>
              <a:t>pune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Information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</a:t>
            </a:r>
            <a:r>
              <a:rPr lang="en-IN" sz="1600" b="1" cap="all" dirty="0"/>
              <a:t>harshalj96k@gmail.com 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r>
              <a:rPr lang="en-US" sz="2200" dirty="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GB" sz="2400" dirty="0"/>
              <a:t>E-commerce platforms such as Amazon generate large volumes of sales data from different product categories, customer reviews, and purchase transactions. </a:t>
            </a:r>
            <a:r>
              <a:rPr lang="en-GB" sz="2400" dirty="0" err="1"/>
              <a:t>Analyzing</a:t>
            </a:r>
            <a:r>
              <a:rPr lang="en-GB" sz="2400" dirty="0"/>
              <a:t> this massive amount of data manually is difficult and time-consuming.</a:t>
            </a:r>
          </a:p>
          <a:p>
            <a:r>
              <a:rPr lang="en-GB" sz="2400" dirty="0"/>
              <a:t>Businesses often struggle to understand key insights such as which products perform best, how sales change over time, and how different product categories contribute to overall revenue.</a:t>
            </a:r>
          </a:p>
          <a:p>
            <a:r>
              <a:rPr lang="en-GB" sz="2400" dirty="0"/>
              <a:t>Without proper data analysis, it becomes challenging for organizations to make strategic decisions related to product performance, marketing strategies, and inventory management.</a:t>
            </a:r>
          </a:p>
          <a:p>
            <a:r>
              <a:rPr lang="en-GB" sz="2400" dirty="0"/>
              <a:t>Therefore, there is a need to </a:t>
            </a:r>
            <a:r>
              <a:rPr lang="en-GB" sz="2400" dirty="0" err="1"/>
              <a:t>analyze</a:t>
            </a:r>
            <a:r>
              <a:rPr lang="en-GB" sz="2400" dirty="0"/>
              <a:t> sales data effectively to identify trends, patterns, and key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dirty="0"/>
              <a:t>The proposed system is a </a:t>
            </a:r>
            <a:r>
              <a:rPr lang="en-GB" sz="2400" b="1" dirty="0"/>
              <a:t>Sales Analysis Dashboard developed using Power BI</a:t>
            </a:r>
            <a:r>
              <a:rPr lang="en-GB" sz="2400" dirty="0"/>
              <a:t> that </a:t>
            </a:r>
            <a:r>
              <a:rPr lang="en-GB" sz="2400" dirty="0" err="1"/>
              <a:t>analyzes</a:t>
            </a:r>
            <a:r>
              <a:rPr lang="en-GB" sz="2400" dirty="0"/>
              <a:t> Amazon product sales data and presents it through interactive visualizations.</a:t>
            </a:r>
          </a:p>
          <a:p>
            <a:r>
              <a:rPr lang="en-GB" sz="2400" dirty="0"/>
              <a:t>The system processes the dataset and displays important business metrics such as sales performance, product category distribution, and product reviews. The dashboard allows users to </a:t>
            </a:r>
            <a:r>
              <a:rPr lang="en-GB" sz="2400" dirty="0" err="1"/>
              <a:t>analyze</a:t>
            </a:r>
            <a:r>
              <a:rPr lang="en-GB" sz="2400" dirty="0"/>
              <a:t> data through multiple visual charts including monthly sales trends, weekly sales patterns, and top-performing products.</a:t>
            </a:r>
          </a:p>
          <a:p>
            <a:r>
              <a:rPr lang="en-GB" sz="2400" dirty="0"/>
              <a:t>Interactive filters enable users to explore specific product categories and gain deeper insights into sales performance.</a:t>
            </a:r>
          </a:p>
          <a:p>
            <a:r>
              <a:rPr lang="en-GB" sz="2400" dirty="0"/>
              <a:t>This dashboard helps businesses quickly understand sales trends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r>
              <a:rPr lang="en-GB" sz="2400" dirty="0"/>
              <a:t>The system was developed using </a:t>
            </a:r>
            <a:r>
              <a:rPr lang="en-GB" sz="2400" b="1" dirty="0"/>
              <a:t>Business Intelligence and Data Visualization techniques</a:t>
            </a:r>
            <a:r>
              <a:rPr lang="en-GB" sz="2400" dirty="0"/>
              <a:t>.</a:t>
            </a:r>
          </a:p>
          <a:p>
            <a:r>
              <a:rPr lang="en-GB" sz="2400" dirty="0"/>
              <a:t>Main technologies used:</a:t>
            </a:r>
          </a:p>
          <a:p>
            <a:r>
              <a:rPr lang="en-GB" sz="2400" b="1" dirty="0"/>
              <a:t>Power BI Desktop</a:t>
            </a:r>
            <a:br>
              <a:rPr lang="en-GB" sz="2400" dirty="0"/>
            </a:br>
            <a:r>
              <a:rPr lang="en-GB" sz="2400" dirty="0"/>
              <a:t>Used to create interactive dashboards and visualizations.</a:t>
            </a:r>
          </a:p>
          <a:p>
            <a:r>
              <a:rPr lang="en-GB" sz="2400" b="1" dirty="0"/>
              <a:t>CSV Dataset</a:t>
            </a:r>
            <a:br>
              <a:rPr lang="en-GB" sz="2400" dirty="0"/>
            </a:br>
            <a:r>
              <a:rPr lang="en-GB" sz="2400" dirty="0"/>
              <a:t>Used as the data source containing Amazon product sales information.</a:t>
            </a:r>
          </a:p>
          <a:p>
            <a:r>
              <a:rPr lang="en-GB" sz="2400" b="1" dirty="0"/>
              <a:t>Power Query Editor</a:t>
            </a:r>
            <a:br>
              <a:rPr lang="en-GB" sz="2400" dirty="0"/>
            </a:br>
            <a:r>
              <a:rPr lang="en-GB" sz="2400" dirty="0"/>
              <a:t>Used for data cleaning and transformation.</a:t>
            </a:r>
          </a:p>
          <a:p>
            <a:r>
              <a:rPr lang="en-GB" sz="2400" b="1" dirty="0"/>
              <a:t>Data Visualization Techniques</a:t>
            </a:r>
            <a:endParaRPr lang="en-GB" sz="2400" dirty="0"/>
          </a:p>
          <a:p>
            <a:r>
              <a:rPr lang="en-GB" sz="2400" dirty="0"/>
              <a:t>KPI Cards</a:t>
            </a:r>
          </a:p>
          <a:p>
            <a:r>
              <a:rPr lang="en-GB" sz="2400" dirty="0"/>
              <a:t>Line Charts</a:t>
            </a:r>
          </a:p>
          <a:p>
            <a:r>
              <a:rPr lang="en-GB" sz="2400" dirty="0"/>
              <a:t>Bar Charts</a:t>
            </a:r>
          </a:p>
          <a:p>
            <a:r>
              <a:rPr lang="en-GB" sz="2400" dirty="0"/>
              <a:t>Donut Charts</a:t>
            </a:r>
          </a:p>
          <a:p>
            <a:r>
              <a:rPr lang="en-GB" sz="2400" dirty="0"/>
              <a:t>Map Visualization</a:t>
            </a:r>
          </a:p>
          <a:p>
            <a:r>
              <a:rPr lang="en-GB" sz="2400" dirty="0"/>
              <a:t>Filters and Slicers</a:t>
            </a:r>
          </a:p>
          <a:p>
            <a:r>
              <a:rPr lang="en-GB" sz="2400" dirty="0"/>
              <a:t>These technologies enable efficient analysis and presentation of complex datasets.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sz="1600" b="1" dirty="0"/>
              <a:t>Algorithm</a:t>
            </a:r>
          </a:p>
          <a:p>
            <a:r>
              <a:rPr lang="en-GB" sz="1600" dirty="0"/>
              <a:t>The following steps were followed to develop the dashboard:</a:t>
            </a:r>
          </a:p>
          <a:p>
            <a:r>
              <a:rPr lang="en-GB" sz="1600" dirty="0"/>
              <a:t>Import the Amazon product sales dataset into Power BI.</a:t>
            </a:r>
          </a:p>
          <a:p>
            <a:r>
              <a:rPr lang="en-GB" sz="1600" dirty="0"/>
              <a:t>Clean and preprocess the dataset using Power Query Editor.</a:t>
            </a:r>
          </a:p>
          <a:p>
            <a:r>
              <a:rPr lang="en-GB" sz="1600" dirty="0"/>
              <a:t>Create calculated measures such as Total Sales, Products Sold, and Reviews.</a:t>
            </a:r>
          </a:p>
          <a:p>
            <a:r>
              <a:rPr lang="en-GB" sz="1600" dirty="0"/>
              <a:t>Design visualizations including sales trends, category distribution, and product rankings.</a:t>
            </a:r>
          </a:p>
          <a:p>
            <a:r>
              <a:rPr lang="en-GB" sz="1600" dirty="0"/>
              <a:t>Add filters and slicers to allow interactive data analysis.</a:t>
            </a:r>
          </a:p>
          <a:p>
            <a:r>
              <a:rPr lang="en-GB" sz="1600" dirty="0"/>
              <a:t>Arrange visual elements to create an interactive dashboard layout.</a:t>
            </a:r>
          </a:p>
          <a:p>
            <a:r>
              <a:rPr lang="en-GB" sz="1600" b="1" dirty="0"/>
              <a:t>Deployment</a:t>
            </a:r>
          </a:p>
          <a:p>
            <a:r>
              <a:rPr lang="en-GB" sz="1600" dirty="0"/>
              <a:t>The dashboard can be deployed in multiple ways:</a:t>
            </a:r>
          </a:p>
          <a:p>
            <a:r>
              <a:rPr lang="en-GB" sz="1600" dirty="0"/>
              <a:t>Published on </a:t>
            </a:r>
            <a:r>
              <a:rPr lang="en-GB" sz="1600" b="1" dirty="0"/>
              <a:t>Power BI Service</a:t>
            </a:r>
            <a:r>
              <a:rPr lang="en-GB" sz="1600" dirty="0"/>
              <a:t> for online access</a:t>
            </a:r>
          </a:p>
          <a:p>
            <a:r>
              <a:rPr lang="en-GB" sz="1600" dirty="0"/>
              <a:t>Shared with users through </a:t>
            </a:r>
            <a:r>
              <a:rPr lang="en-GB" sz="1600" b="1" dirty="0"/>
              <a:t>Power BI workspace</a:t>
            </a:r>
            <a:endParaRPr lang="en-GB" sz="1600" dirty="0"/>
          </a:p>
          <a:p>
            <a:r>
              <a:rPr lang="en-GB" sz="1600" dirty="0"/>
              <a:t>Exported as </a:t>
            </a:r>
            <a:r>
              <a:rPr lang="en-GB" sz="1600" b="1" dirty="0"/>
              <a:t>reports or screenshots for presentations</a:t>
            </a:r>
            <a:endParaRPr lang="en-GB" sz="1600" dirty="0"/>
          </a:p>
          <a:p>
            <a:r>
              <a:rPr lang="en-GB" sz="1600" dirty="0"/>
              <a:t>This allows businesses and analysts to access the dashboard easily.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17080-1BC8-2560-5E95-F0D5E0685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8" t="1177" r="3448" b="3529"/>
          <a:stretch>
            <a:fillRect/>
          </a:stretch>
        </p:blipFill>
        <p:spPr>
          <a:xfrm>
            <a:off x="2115670" y="1514053"/>
            <a:ext cx="7960660" cy="447441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400" dirty="0"/>
              <a:t>This project demonstrates the use of </a:t>
            </a:r>
            <a:r>
              <a:rPr lang="en-GB" sz="2400" b="1" dirty="0"/>
              <a:t>Power BI as an effective business intelligence tool</a:t>
            </a:r>
            <a:r>
              <a:rPr lang="en-GB" sz="2400" dirty="0"/>
              <a:t> for </a:t>
            </a:r>
            <a:r>
              <a:rPr lang="en-GB" sz="2400" dirty="0" err="1"/>
              <a:t>analyzing</a:t>
            </a:r>
            <a:r>
              <a:rPr lang="en-GB" sz="2400" dirty="0"/>
              <a:t> sales data.</a:t>
            </a:r>
          </a:p>
          <a:p>
            <a:r>
              <a:rPr lang="en-GB" sz="2400" dirty="0"/>
              <a:t>By transforming raw Amazon product data into an interactive dashboard, the project helps users easily identify trends, top-performing products, and sales patterns.</a:t>
            </a:r>
          </a:p>
          <a:p>
            <a:r>
              <a:rPr lang="en-GB" sz="2400" dirty="0"/>
              <a:t>The dashboard enables better decision-making by providing clear visual insights and improving the understanding of business performance.</a:t>
            </a:r>
          </a:p>
          <a:p>
            <a:r>
              <a:rPr lang="en-GB" sz="2400" dirty="0"/>
              <a:t>Thus, Power BI proves to be a powerful platform for data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400" dirty="0"/>
              <a:t>The project can be further improved with the following enhancements:</a:t>
            </a:r>
          </a:p>
          <a:p>
            <a:r>
              <a:rPr lang="en-GB" sz="2400" dirty="0"/>
              <a:t>Integration with </a:t>
            </a:r>
            <a:r>
              <a:rPr lang="en-GB" sz="2400" b="1" dirty="0"/>
              <a:t>real-time sales data from e-commerce platforms</a:t>
            </a:r>
            <a:endParaRPr lang="en-GB" sz="2400" dirty="0"/>
          </a:p>
          <a:p>
            <a:r>
              <a:rPr lang="en-GB" sz="2400" dirty="0"/>
              <a:t>Implementation of </a:t>
            </a:r>
            <a:r>
              <a:rPr lang="en-GB" sz="2400" b="1" dirty="0"/>
              <a:t>machine learning models for sales prediction</a:t>
            </a:r>
            <a:endParaRPr lang="en-GB" sz="2400" dirty="0"/>
          </a:p>
          <a:p>
            <a:r>
              <a:rPr lang="en-GB" sz="2400" dirty="0"/>
              <a:t>Addition of </a:t>
            </a:r>
            <a:r>
              <a:rPr lang="en-GB" sz="2400" b="1" dirty="0"/>
              <a:t>customer </a:t>
            </a:r>
            <a:r>
              <a:rPr lang="en-GB" sz="2400" b="1" dirty="0" err="1"/>
              <a:t>behavior</a:t>
            </a:r>
            <a:r>
              <a:rPr lang="en-GB" sz="2400" b="1" dirty="0"/>
              <a:t> and sentiment analysis</a:t>
            </a:r>
            <a:endParaRPr lang="en-GB" sz="2400" dirty="0"/>
          </a:p>
          <a:p>
            <a:r>
              <a:rPr lang="en-GB" sz="2400" dirty="0"/>
              <a:t>Development of </a:t>
            </a:r>
            <a:r>
              <a:rPr lang="en-GB" sz="2400" b="1" dirty="0"/>
              <a:t>mobile-friendly dashboards</a:t>
            </a:r>
            <a:endParaRPr lang="en-GB" sz="2400" dirty="0"/>
          </a:p>
          <a:p>
            <a:r>
              <a:rPr lang="en-GB" sz="2400" dirty="0"/>
              <a:t>Integration with </a:t>
            </a:r>
            <a:r>
              <a:rPr lang="en-GB" sz="2400" b="1" dirty="0"/>
              <a:t>cloud databases and enterprise systems</a:t>
            </a:r>
            <a:endParaRPr lang="en-GB" sz="2400" dirty="0"/>
          </a:p>
          <a:p>
            <a:r>
              <a:rPr lang="en-GB" sz="2400" dirty="0"/>
              <a:t>These improvements can enhance the analytical capabilities of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dirty="0"/>
              <a:t>Microsoft Power BI Documentation</a:t>
            </a:r>
            <a:br>
              <a:rPr lang="en-IN" sz="2400" dirty="0"/>
            </a:br>
            <a:r>
              <a:rPr lang="en-IN" sz="2400" dirty="0">
                <a:hlinkClick r:id="rId2"/>
              </a:rPr>
              <a:t>https://powerbi.microsoft.com</a:t>
            </a:r>
            <a:endParaRPr lang="en-IN" sz="2400" dirty="0"/>
          </a:p>
          <a:p>
            <a:r>
              <a:rPr lang="en-IN" sz="2400" dirty="0"/>
              <a:t>Microsoft Learn – Power BI Tutorials</a:t>
            </a:r>
            <a:br>
              <a:rPr lang="en-IN" sz="2400" dirty="0"/>
            </a:br>
            <a:r>
              <a:rPr lang="en-IN" sz="2400" dirty="0"/>
              <a:t>https://learn.microsoft.com/power-bi</a:t>
            </a:r>
          </a:p>
          <a:p>
            <a:r>
              <a:rPr lang="en-IN" sz="2400" dirty="0"/>
              <a:t>Power BI Dashboard Tutorial (YouTube)</a:t>
            </a:r>
          </a:p>
          <a:p>
            <a:r>
              <a:rPr lang="en-IN" sz="2400" dirty="0"/>
              <a:t>Amazon Product Sales Dataset (Public Dataset)</a:t>
            </a:r>
          </a:p>
          <a:p>
            <a:r>
              <a:rPr lang="en-IN" sz="2400" dirty="0"/>
              <a:t>Google Drive Link </a:t>
            </a:r>
            <a:r>
              <a:rPr lang="en-IN" sz="2400"/>
              <a:t>: </a:t>
            </a:r>
            <a:r>
              <a:rPr lang="en-IN" sz="2400">
                <a:hlinkClick r:id="rId3"/>
              </a:rPr>
              <a:t>https://drive.google.com/drive/folders/1X8IlLarGMnjwvOxpic26UgGA8Qpw4SzD?usp=drive_link</a:t>
            </a:r>
            <a:endParaRPr lang="en-IN" sz="2400"/>
          </a:p>
          <a:p>
            <a:r>
              <a:rPr lang="en-IN" sz="2200">
                <a:latin typeface="Franklin Gothic Book"/>
              </a:rPr>
              <a:t>GitHub </a:t>
            </a:r>
            <a:r>
              <a:rPr lang="en-IN" sz="2200" dirty="0">
                <a:latin typeface="Franklin Gothic Book"/>
              </a:rPr>
              <a:t>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  <a:hlinkClick r:id="rId4"/>
              </a:rPr>
              <a:t>https://github.com/HarshalJ96k/MS-ELEVATE-INTERNSHIP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734</Words>
  <Application>Microsoft Office PowerPoint</Application>
  <PresentationFormat>Widescreen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harshal jadhav</cp:lastModifiedBy>
  <cp:revision>100</cp:revision>
  <dcterms:created xsi:type="dcterms:W3CDTF">2024-05-21T11:55:07Z</dcterms:created>
  <dcterms:modified xsi:type="dcterms:W3CDTF">2026-03-15T17:58:37Z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